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Liberation Sans"/>
              </a:rPr>
              <a:t>When a corridor closes, an Indian city holds its breath.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FF9933"/>
                </a:solidFill>
                <a:latin typeface="Liberation Sans"/>
              </a:rPr>
              <a:t>We built the intelligence that lets it exhale — corridors managed to the second, not frozen for half an hour. A city-scale platform on Ahmedabad's real roads, where VVIP routing is one component among many and a named officer decides every penalty, pursuit and route switch.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6E4"/>
                </a:solidFill>
                <a:latin typeface="Liberation Sans"/>
              </a:rPr>
              <a:t>Today's default: a protected movement freezes corridors 15–45 minutes at every junction, coordinated by phone, radio and WhatsApp across five separate agencies.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6E4"/>
                </a:solidFill>
                <a:latin typeface="Liberation Sans"/>
              </a:rPr>
              <a:t>The passage itself takes seconds per junction. The MHA Blue Book says traffic must be “regulated, not stopped” — the gap is tooling, not policy. Documented harm: ambulance held 5–10 min with siren running (Mumbai 2022); a death after a ~20-min hold (Kanchipuram 2018); another halt this February (Agartala 2026).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6E4"/>
                </a:solidFill>
                <a:latin typeface="Liberation Sans"/>
              </a:rPr>
              <a:t>One failure mode, many costumes: the same freeze hits the Rath Yatra's 14 km old-city loop (148 annual editions), Kumbh-class perimeters (240→660 million visits, 2019→2025), a 24,000-runner marathon, Republic Day parade strips, ~130,000-person stadium egress, monsoon flood evacuation and metro work zones.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C9D6E4"/>
                </a:solidFill>
                <a:latin typeface="Liberation Sans"/>
              </a:rPr>
              <a:t>Our answer is a city-scale Corridor OS — the VVIP run is the base case, not the boundary (full library: VVIP/docs/USE_CASES.md) — and the same backbone carries everyday enforcement: a stolen-vehicle FIR traced from watchlist to interception plan, vehicles only, with a human in every penalty loop (VVIP/docs/GODS_EYE_INTEGRATION.md).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C9D6E4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C9D6E4"/>
                </a:solidFill>
                <a:latin typeface="Liberation Sans"/>
              </a:rPr>
              <a:t>Slide 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The gap, precisely — Gujarat (Ahmedabad–Gandhinagar)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Pilot geography: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Ahmedabad's real road network, traced on OpenStreetMap — 49 segments, 34 junctions, ~192 km: Ashram Road, SG Highway, CG Road, SP Ring Road, the Gandhinagar Highway, the old-city bazaar belt (© OpenStreetMap contributors, ODbL 1.0).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G1  No shared operational picture across the 5 agencies  →  15–45-minute blanket holds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G2  No prediction in the loop (fixed advance margins)  →  holds far longer than the convoy needs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G3  No citizen advisory channel  →  the commuter discovers the closure at the barricade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G4  No emergency-passage channel for 108  →  golden-hour minutes burn; documented deaths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G5  No measurement or accountability  →  nothing improves; over-caution every time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Beneficiaries, named: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the commuter on Ashram Road; the cardiac patient in a 108 ambulance (Gujarat: ~585 EMRI ambulances, ~5 emergency trips each daily); the constable at the barricade; the duty officer with zero tooling — and, through the use-case library, the pilgrim, the runner, the spectator and the flood evacuee.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The platform — a city-scale OS, the public's protagonist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818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Our Very Important Persons: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the Voter on the bus, the Victim in the 108 ambulance, and the Vulnerable patient for whom ten minutes matter.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One interface, simple by default, deep on demand — 127.0.0.1:5273: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Home (what needs you now), Map, Decide (one decision at a time, “what changes if you approve”), Plan, Assistant and Advisories on one rail; the full analyst workspace, situation wall and 3D city under Analyst; public /citizen + /driver in EN/HI/GU. Real place photos, agency marks and artwork; every approval carries a named officer.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The God's-eye — real 3D Ahmedabad: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signed-in operators see Google Photorealistic 3D Tiles with the overlays draped on the city, none floating — the simulated congestion feed on the real roads, spines, the pursuit fan, units, cameras; public pages stay keyless. Eleven integrity-validated layers.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The officer approves every switch: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during a live escort the AI only proposes a re-route, Plan B, a hold or closures; a named officer approves each — no answer in 90 s and the current plan holds. The AI never switches a route on its own.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Enforcement on the same rails: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FIR → lawful-basis earmark → emulated ANPR reads → evidence-only sighting, never a fine on a stolen car's owner (409) → a named officer approves → pursuit (one approval, one pursuit) → pgRouting interception plan. Vehicles only — no faces, no persons; plates masked unless an officer is signed in.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Predictive rolling holds, two-tier AI, AMA: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closures 60–180 s ahead, ~2–3-minute holds instead of 25-minute freezes; a 27B decider + Gemma 4 12B at the edge, every answer logged with its confidence; plans fail closed to protocol floors. In the flagship the engine chose signal hold at 45 s — “regulated, not stopped.”</a:t>
            </a:r>
          </a:p>
        </p:txBody>
      </p:sp>
      <p:pic>
        <p:nvPicPr>
          <p:cNvPr id="6" name="Picture 5" descr="showcase_v3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17320"/>
            <a:ext cx="3611880" cy="2257425"/>
          </a:xfrm>
          <a:prstGeom prst="rect">
            <a:avLst/>
          </a:prstGeom>
        </p:spPr>
      </p:pic>
      <p:pic>
        <p:nvPicPr>
          <p:cNvPr id="7" name="Picture 6" descr="showcase_v3_citiz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67328"/>
            <a:ext cx="3611880" cy="2257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6089904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0" i="1">
                <a:solidFill>
                  <a:srgbClr val="5D6A7B"/>
                </a:solidFill>
                <a:latin typeface="Liberation Sans"/>
              </a:rPr>
              <a:t>Live stack, 2026-10-27 — Home · the public citizen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Working now — one honest interface, live stack,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8181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Live on the box: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scripts/veer_up.sh brings the stack up and it starts itself at boot — real reboots came back READY in 4 min 25 s, no manual command. The V3 interface went live on 2026-10-27 (READY 12/12 with OSINT on, migrations 001–025, operator gate on): / is Home, Decide holds one decision at a time, Analyst keeps the workspace and the situation wall.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Deployed, then accepted live (2026-10-23/24):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19 of 22 acceptance steps passed first time; the tier-0 cache miss was fixed (route options named by their own segments, answers filed per movement), redeployed and re-run green — 1 hit in 3, 1825 ms saved; two canvas smokes' failed checks re-ran green once the reset cleared acceptance debris; the judge's journeys passed 92/92.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Flagship “God's Eye Morning” (SHOWCASE PASS three times that night; artifacts 2026-10-24 00:01 IST):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Rath Yatra + monsoon + one 108 ambulance + a stolen-vehicle report, injected through the emulator into the live stack: 31 audited decisions; a 12-replication twin of the scenario's 4 scripted green-corridor windows (ambulance delay 231.92 s, model output); 6 emulated ANPR reads at 95–115 km/h → R_STOLEN_SIGHTING ×6, evidence only — e-challan withheld, an e-challan approval on the plate refused (409) → the sighting approved under the honest label “Scripted demo officer (showcase script)” (in the judged demo, a signed-in human) → 10 choke junctions ranked by pgRouting (top: junction 15, unsignalised, score 0.008683) + a live 12-position trace (its 24 h window also holds an earlier run's reads); the signal guard refused the uncalibrated commit (409 — no field observations).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Emulated/real split, plainly: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the roads are real; the traffic feed, ANPR reads, camera sites and units are emulated or simulated and labelled so on every surface; every decision is the real stack's, every approval carries the officer's name — a signed-in human in the judged demo.</a:t>
            </a:r>
          </a:p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B2330"/>
                </a:solidFill>
                <a:latin typeface="Liberation Sans"/>
              </a:rPr>
              <a:t>Measured: </a:t>
            </a:r>
            <a:r>
              <a:rPr sz="1200" b="0" i="0">
                <a:solidFill>
                  <a:srgbClr val="1B2330"/>
                </a:solidFill>
                <a:latin typeface="Liberation Sans"/>
              </a:rPr>
              <a:t>5123 pytest tests collected on the deployed tree (5012 pass, 92 skip themselves) + 120 cargo tests; migrations 001–025. Bench: decider 455.78 tok/s (p99 1106.8 ms), Gemma 20.09 tok/s, embeddings 92.7 ms, 62.73 GiB resident; adversarial suite 19/19 (score 100; avg 29.19 s / max 57.38 s). Kept visible: tool coverage 0.684 / keyword coverage 0.561; one same-day 69.99 s scenario; DSTGAT ships as architecture only.</a:t>
            </a:r>
          </a:p>
        </p:txBody>
      </p:sp>
      <p:pic>
        <p:nvPicPr>
          <p:cNvPr id="6" name="Picture 5" descr="showcase_v3_dec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417320"/>
            <a:ext cx="3611880" cy="2257425"/>
          </a:xfrm>
          <a:prstGeom prst="rect">
            <a:avLst/>
          </a:prstGeom>
        </p:spPr>
      </p:pic>
      <p:pic>
        <p:nvPicPr>
          <p:cNvPr id="7" name="Picture 6" descr="showcase_v3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767328"/>
            <a:ext cx="3611880" cy="22574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6089904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0" i="1">
                <a:solidFill>
                  <a:srgbClr val="5D6A7B"/>
                </a:solidFill>
                <a:latin typeface="Liberation Sans"/>
              </a:rPr>
              <a:t>Live stack, 2026-10-27 — Decide · the Map on the 3D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SOCIAL CAUSE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Impact for Viksit Bharat 2047 — from the impact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Per movement (central case, modelled on the real-road network):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commuter delay drops from 1,131,888 to 11,319 commuter-minutes when all 34 junctions of the 49-segment network are frozen — an upper-bound framing (per frozen junction ≈ 33,291 → ≈ 333); vehicles caught in holds fall from 60,367 to 6,037.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Reduction in junction-freeze commuter delay: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25× (conservative) — 100× (central) — 506× (optimistic), independent of the junction count: delay scales with hold duration squared.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Per year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(250 movement-days, RTI-able): 4.67 million commuter-hours returned; 2.52 million litres of idle fuel and 6,303 tonnes of CO₂ avoided.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Emergency patients: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≈ 33,000 golden-hour minutes/year returned (12 intersecting trips/day × 11 min). We claim minutes returned, never “lives saved”.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Accountability (SDG 16):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every AI decision logged with distribution + confidence; every penalty a recommendation until a named officer approves it, with an append-only audit trail; every escort route switch an officer's call; vehicles-only enforcement with lawful basis and capped retention — no person-tracking, no fine on a stolen car's owner. SDG 11 · 3 · 16 · 13.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One engine, eight corridor classes + the enforcement family: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protected movements · the 148-edition Rath Yatra · Kumbh-class gatherings · marathons · the national ceremonial days · ~132,000-seat stadium egress · monsoon flood evacuation · metro work zones — plus the stolen-vehicle chain, each a runnable scenario on the real roads (VVIP/docs/USE_CASES.md).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PRESENTATION &amp; TEAMWORK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Team, adoption, sustainability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Team (≤3):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&lt;Name 1 — platform / ML&gt; · &lt;Name 2 — civic layer / outreach&gt; · &lt;Name 3 — operations / impact&gt; — &lt;institution&gt;, &lt;AISHE IDs&gt;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Adoption: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a Smart City SPV / city traffic police pilot on one corridor; bill of materials = one GB10-class edge box; it plugs into the state's ICCC / CCTV / ITMS cameras and 108/EMRI dispatch rather than replacing them.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Open source (MIT):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any state can fork. Roadmap: T+1 month — register the city's ICCC / CCTV cameras and land the first live ANPR adapter · T+3 — pilot design with one city + 108 dispatch; real field traffic to calibrate the twin; lift the two open suite quality gaps (tool coverage 0.684, keyword coverage 0.561); first trained DSTGAT weights · T+6 — two more languages; event-corridor preset for a real gathering (Rath Yatra / match night) with the city.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Costs: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the intelligence runs at the edge; marginal cost per movement ≈ zero; alerts ride existing SMS/WhatsApp rails.</a:t>
            </a:r>
          </a:p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Privacy principle: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VVIP identity/destination never logged; decisions carry audit trails; enforcement is vehicles-only with lawful basis, capped retention and human-approved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9933"/>
                </a:solidFill>
                <a:latin typeface="Liberation Sans"/>
              </a:rPr>
              <a:t>MANDATORY DISCLOSURE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03504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0F2A43"/>
                </a:solidFill>
                <a:latin typeface="Liberation Sans"/>
              </a:rPr>
              <a:t>Disclosure of AI-tool usage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1371600" cy="411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B2330"/>
                </a:solidFill>
                <a:latin typeface="Liberation Sans"/>
              </a:rPr>
              <a:t>AI tool usage: </a:t>
            </a:r>
            <a:r>
              <a:rPr sz="1400" b="0" i="0">
                <a:solidFill>
                  <a:srgbClr val="1B2330"/>
                </a:solidFill>
                <a:latin typeface="Liberation Sans"/>
              </a:rPr>
              <a:t>the base prototype and our enhancements were developed with the help of AI coding assistants — including agent sessions that built the model stack, the citizen advisory and 108 driver surfaces, the event emulator, the God's-eye canvas and its 3D draping, the real-road network generator, the command-deck interface, the enforcement/watchlist chain, escort authority, the impact harness and documentation.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B2330"/>
                </a:solidFill>
                <a:latin typeface="Liberation Sans"/>
              </a:rPr>
              <a:t>Detection/decision tools are deterministic, team-reviewed code (optimizer, classifier, simulator, enforcement rules); the forecaster's live rung is a third-party zero-shot model with fixed weights (t0-alpha, Apache-2.0); the two-tier reasoning layer is logged answer-by-answer with probability and confidence; no AI output acts unreviewed — the AI proposes, a named officer decides every penalty, pursuit, dispatch and escort route switch.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1B2330"/>
                </a:solidFill>
                <a:latin typeface="Liberation Sans"/>
              </a:rPr>
              <a:t>The interface of record is the backend-wired command-deck at :5273 behind the operator sign-in (screenshots taken on it live, 2026-10-27: operator views, the public page keyless; reference photos are credited and labelled not live); the legacy React demo is the clearly-labelled offline fallback; the showcase injects emulator-generated causes into the real stack (reads labelled emulated_anpr, units labelled emulated). Every statistic comes from cited sources, the falsifiable assumptions ledger of IMPACT_REPORT.md, or the in-repo artifacts (scripts/bench_results.json, showcase/showcase_results.json, showcase/pursuit_chain.json, services/command-deck/tests/artifacts/screens/) — model outputs are labelled as modelled. Road geometry © OpenStreetMap contributors, ODbL 1.0.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References: MHA Blue Book protocol summary · Free Press Journal (Mumbai ambulance hold, Sept 2022) · Kanchipuram 2018 · Agartala Feb 2026 · Times of India Ahmedabad (2009; riverfront-run diversions May 2024) · Vibes of India (2022 CM convoy) · GVK EMRI Gujarat fleet figures · NDTV + utsav.gov.in (148th Rath Yatra) · Wikipedia/UP govt (Kumbh 2019→2025) · ahmedabadmarathon.com / Olympics.com / ThePrint (2024 marathon) · Gujarat CMO (76th Republic Day) · Wikipedia + Ayen News (Motera / IPL 2026 final) · India Today (T20 WC 2026 final) · BBC / ReliefWeb (Gujarat floods 2024) · PIB + Indian Express (Metro Phase 2, Kankaria closure) · OpenStreetMap · MoRTH ITS / Smart Cities / Gati Shakti · MyBharat HSC 2027 brief.</a:t>
            </a:r>
          </a:p>
          <a:p>
            <a:pPr algn="l" lvl="1">
              <a:spcAft>
                <a:spcPts val="700"/>
              </a:spcAft>
            </a:pPr>
            <a:r>
              <a:rPr sz="1250" b="0" i="0">
                <a:solidFill>
                  <a:srgbClr val="5D6A7B"/>
                </a:solidFill>
                <a:latin typeface="Liberation Sans"/>
              </a:rPr>
              <a:t>Full citation lists: PROBLEM_STATEMENT_GUJARAT.md §6 and VVIP/docs/USE_CASES.md (Sources). The demo runs live on the GB10 box; emulated sources are labelled on every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Gujarat · Veer · Hack for Social Cause · VBYLD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419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D6A7B"/>
                </a:solidFill>
                <a:latin typeface="Liberation Sans"/>
              </a:rPr>
              <a:t>Slide 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